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DM Sans Thin"/>
      <p:regular r:id="rId201314"/>
    </p:embeddedFont>
    <p:embeddedFont>
      <p:font typeface="DM Sans ExtraLight"/>
      <p:regular r:id="rId201315"/>
    </p:embeddedFont>
    <p:embeddedFont>
      <p:font typeface="DM Sans Light"/>
      <p:regular r:id="rId201316"/>
    </p:embeddedFont>
    <p:embeddedFont>
      <p:font typeface="DM Sans"/>
      <p:regular r:id="rId201317"/>
    </p:embeddedFont>
    <p:embeddedFont>
      <p:font typeface="DM Sans Medium"/>
      <p:regular r:id="rId201318"/>
    </p:embeddedFont>
    <p:embeddedFont>
      <p:font typeface="DM Sans SemiBold"/>
      <p:regular r:id="rId201319"/>
    </p:embeddedFont>
    <p:embeddedFont>
      <p:font typeface="DM Sans Bold"/>
      <p:regular r:id="rId201320"/>
    </p:embeddedFont>
    <p:embeddedFont>
      <p:font typeface="DM Sans ExtraBold"/>
      <p:regular r:id="rId201321"/>
    </p:embeddedFont>
    <p:embeddedFont>
      <p:font typeface="DM Sans Black"/>
      <p:regular r:id="rId201322"/>
    </p:embeddedFont>
    <p:embeddedFont>
      <p:font typeface="Libre Baskerville"/>
      <p:regular r:id="rId201323"/>
    </p:embeddedFont>
    <p:embeddedFont>
      <p:font typeface="Libre Baskerville Bold"/>
      <p:regular r:id="rId2013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image" Target="../media/image-5-5.jpeg"/><Relationship Id="rId6" Type="http://schemas.openxmlformats.org/officeDocument/2006/relationships/image" Target="../media/image-5-6.jpeg"/><Relationship Id="rId7" Type="http://schemas.openxmlformats.org/officeDocument/2006/relationships/image" Target="../media/image-5-7.jpe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3.png"/><Relationship Id="rId6" Type="http://schemas.openxmlformats.org/officeDocument/2006/relationships/image" Target="../media/image-8-4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85788"/>
            <a:ext cx="4722763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Low-Cost AI-Based Semiconductor Defect Detection System Using Computer Vision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70336"/>
            <a:ext cx="4722763" cy="1612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Final Year B.Tech Capstone Project Proposal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Guide: </a:t>
            </a:r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Dr. Subhasish Mahapatra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Student: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[Sujal Kumar (23BEC7061)  Dania Firdoush(23BEC7084) ]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Department:</a:t>
            </a:r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Electronics &amp; Communication Engineering  SENSE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Academic Year: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2023–27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4342284"/>
            <a:ext cx="1160115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B88E2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1174" y="4384774"/>
            <a:ext cx="144720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COMPUTER VISION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727076" y="4342284"/>
            <a:ext cx="1007418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B88E2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12131" y="4384774"/>
            <a:ext cx="129450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LEARNING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Problem Statement &amp; Motivation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25450"/>
            <a:ext cx="815176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Inspection Challenge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789310"/>
            <a:ext cx="8151763" cy="27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Semiconductor fabs require 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100% wafer inspection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even microscopic defects cause chip failure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 inspection is 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slow, costly, and error-prone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under high-volume production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Industrial AOI systems cost 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$50K–$500K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inaccessible to SMEs and research labs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496119" y="1108993"/>
            <a:ext cx="8151763" cy="196155"/>
          </a:xfrm>
          <a:prstGeom prst="roundRect">
            <a:avLst>
              <a:gd name="adj" fmla="val 15177"/>
            </a:avLst>
          </a:prstGeom>
          <a:solidFill>
            <a:srgbClr val="F7EDD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61" y="1197546"/>
            <a:ext cx="88553" cy="70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6356" y="1162124"/>
            <a:ext cx="830788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Core Gap: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No affordable, automated, AI-driven inspection solution exists for low-resource environments.</a:t>
            </a:r>
            <a:endParaRPr lang="en-US" sz="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566" y="1344960"/>
            <a:ext cx="6804794" cy="38276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7349"/>
            <a:ext cx="8151763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Proposed Solution: AI-Based Defect Detection System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96119" y="844972"/>
            <a:ext cx="8608963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end-to-end automated pipeline combining CNN-based classification with a web monitoring dashboard — deployed on existing hardware at near-zero cost.</a:t>
            </a:r>
            <a:endParaRPr lang="en-US" sz="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679" y="1022449"/>
            <a:ext cx="8084567" cy="34862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3714" y="3847555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Web Dashboard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3040550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Defect Classify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2241697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CNN Preprocess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3714" y="1434693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Wafer Input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570958"/>
            <a:ext cx="8608963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system accepts wafer map images or live camera input, processes them through a trained CNN, and outputs defect type, confidence score, and severity rating via a browser-based interface.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Architecture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04255"/>
            <a:ext cx="4405610" cy="44056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79429" y="2656880"/>
            <a:ext cx="357314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Architecture Highlights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5079429" y="2803029"/>
            <a:ext cx="3573140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Input Layer: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WM811K dataset or USB camera feed (256×256 grayscale)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Preprocessing: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Normalisation, data augmentation, noise filtering via OpenCV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CNN Core: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4 convolutional blocks with max-pooling and dropout regularisation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Output: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7-class softmax with confidence thresholding and severity flagging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1310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&amp; Defect Categories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85924"/>
            <a:ext cx="815176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WM811K Wafer Map Dataset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(Kaggle) contains 811,457 labelled wafer maps across 7 defect patterns — the benchmark for semiconductor ML research.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80034"/>
            <a:ext cx="851892" cy="8518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567583"/>
            <a:ext cx="19361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Normal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96119" y="2826544"/>
            <a:ext cx="193617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defects detected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955" y="1580034"/>
            <a:ext cx="851892" cy="8518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67955" y="2567583"/>
            <a:ext cx="19361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Center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567955" y="2826544"/>
            <a:ext cx="193617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Defects clustered at wafer center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9791" y="1580034"/>
            <a:ext cx="851892" cy="8518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39791" y="2567583"/>
            <a:ext cx="19361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Donut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639791" y="2826544"/>
            <a:ext cx="193617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Ring-shaped defect distribution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628" y="1580034"/>
            <a:ext cx="851892" cy="8518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11628" y="2567583"/>
            <a:ext cx="193625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Edge Ring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711628" y="2826544"/>
            <a:ext cx="193625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Defects along wafer perimeter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229645"/>
            <a:ext cx="851892" cy="8518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6119" y="4217194"/>
            <a:ext cx="19361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Scratch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496119" y="4476155"/>
            <a:ext cx="193617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Linear mechanical damage marks</a:t>
            </a:r>
            <a:endParaRPr lang="en-US" sz="9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7955" y="3229645"/>
            <a:ext cx="851892" cy="85189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2567955" y="4217194"/>
            <a:ext cx="19361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Near Full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2567955" y="4476155"/>
            <a:ext cx="193617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Near-total wafer coverage</a:t>
            </a:r>
            <a:endParaRPr lang="en-US" sz="9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9791" y="3229645"/>
            <a:ext cx="851892" cy="85189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639791" y="4217194"/>
            <a:ext cx="19361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Random</a:t>
            </a:r>
            <a:endParaRPr lang="en-US" sz="1200" dirty="0"/>
          </a:p>
        </p:txBody>
      </p:sp>
      <p:sp>
        <p:nvSpPr>
          <p:cNvPr id="24" name="Text 15"/>
          <p:cNvSpPr/>
          <p:nvPr/>
        </p:nvSpPr>
        <p:spPr>
          <a:xfrm>
            <a:off x="4639791" y="4476155"/>
            <a:ext cx="193617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Scattered, uncorrelated defects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AI Model Design: CNN Architecture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267992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 Specifications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419871"/>
            <a:ext cx="3986733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Input: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256×256 grayscale wafer map images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Feature Extraction: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4× Conv2D blocks (32→64→128→256 filters)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Regularisation: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MaxPooling2D + Dropout (0.5)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Classification: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Dense(128, ReLU) → Softmax(7)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Tools: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Python 3.10, TensorFlow 2.x, Keras, OpenCV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665911" y="2957661"/>
            <a:ext cx="3986733" cy="198090"/>
          </a:xfrm>
          <a:prstGeom prst="roundRect">
            <a:avLst>
              <a:gd name="adj" fmla="val 15499"/>
            </a:avLst>
          </a:prstGeom>
          <a:solidFill>
            <a:srgbClr val="F7EDD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985" y="3051646"/>
            <a:ext cx="91306" cy="730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03366" y="3009751"/>
            <a:ext cx="413340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accuracy: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&gt;95%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on WM811K test set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295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Software &amp; Hardware Requirements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0029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Software Stack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581224"/>
            <a:ext cx="3902943" cy="2472035"/>
          </a:xfrm>
          <a:prstGeom prst="roundRect">
            <a:avLst>
              <a:gd name="adj" fmla="val 240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1994818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406030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817242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228454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639666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447627" y="1581224"/>
            <a:ext cx="8860" cy="247203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2714" y="1675805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Tool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91767" y="1675805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Purpose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714" y="2087017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3.10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91767" y="2087017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language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2714" y="2498229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TensorFlow 2.x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91767" y="2498229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CNN model training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2714" y="2909441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OpenCV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91767" y="2909441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Image preprocessing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2714" y="3320653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Flask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91767" y="3320653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REST API backend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2714" y="3731865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React.js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91767" y="3731865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 dashboard UI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49701" y="120029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Hardware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749701" y="1581224"/>
            <a:ext cx="3902943" cy="2060823"/>
          </a:xfrm>
          <a:prstGeom prst="roundRect">
            <a:avLst>
              <a:gd name="adj" fmla="val 288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49701" y="1994818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749701" y="2406030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749701" y="2817242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749701" y="3228454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895877" y="1581224"/>
            <a:ext cx="8860" cy="20608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96296" y="1675805"/>
            <a:ext cx="231264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40017" y="1675805"/>
            <a:ext cx="19233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Specification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6296" y="2087017"/>
            <a:ext cx="231264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Laptop (existing)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40017" y="2087017"/>
            <a:ext cx="19233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Intel i5 / 8 GB RAM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6296" y="2498229"/>
            <a:ext cx="231264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Storage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40017" y="2498229"/>
            <a:ext cx="19233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SSD (dataset ~2 GB)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6296" y="2909441"/>
            <a:ext cx="231264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USB Camera (opt.)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40017" y="2909441"/>
            <a:ext cx="19233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MP, ₹800–₹1,000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96296" y="3320653"/>
            <a:ext cx="231264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Internet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40017" y="3320653"/>
            <a:ext cx="19233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dataset &amp; libraries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49701" y="3801517"/>
            <a:ext cx="3902943" cy="779562"/>
          </a:xfrm>
          <a:prstGeom prst="roundRect">
            <a:avLst>
              <a:gd name="adj" fmla="val 7638"/>
            </a:avLst>
          </a:prstGeom>
          <a:solidFill>
            <a:srgbClr val="F7EDD4"/>
          </a:solidFill>
          <a:ln/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1460" y="4016573"/>
            <a:ext cx="177180" cy="141759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5210398" y="3964484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software is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open-source and free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No dedicated GPU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2954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Cost Analysis &amp; Feasibility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96119" y="1208559"/>
            <a:ext cx="3498800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Budget Breakdown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532334"/>
            <a:ext cx="3498800" cy="2045196"/>
          </a:xfrm>
          <a:prstGeom prst="roundRect">
            <a:avLst>
              <a:gd name="adj" fmla="val 259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1874788"/>
            <a:ext cx="3498800" cy="789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214860"/>
            <a:ext cx="3498800" cy="789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554932"/>
            <a:ext cx="3498800" cy="789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2895005"/>
            <a:ext cx="3498800" cy="789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235077"/>
            <a:ext cx="3498800" cy="789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27087" y="1609279"/>
            <a:ext cx="229835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Item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20653" y="1609279"/>
            <a:ext cx="160049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Cost (₹)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27087" y="1949351"/>
            <a:ext cx="229835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Existing Laptop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20653" y="1949351"/>
            <a:ext cx="160049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₹0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7087" y="2289423"/>
            <a:ext cx="229835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WM811K Dataset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20653" y="2289423"/>
            <a:ext cx="160049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7087" y="2629495"/>
            <a:ext cx="229835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Software Tools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20653" y="2629495"/>
            <a:ext cx="160049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7087" y="2969568"/>
            <a:ext cx="229835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USB Camera (optional)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20653" y="2969568"/>
            <a:ext cx="160049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₹800–₹1,000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7087" y="3309640"/>
            <a:ext cx="229835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Total Estimated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20653" y="3309640"/>
            <a:ext cx="160049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₹0–₹1,000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07756" y="1208559"/>
            <a:ext cx="434481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Feasibility Assessment</a:t>
            </a:r>
            <a:endParaRPr lang="en-US" sz="12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07756" y="1532334"/>
            <a:ext cx="4344814" cy="781645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505399" y="1672828"/>
            <a:ext cx="400667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Technically Feasible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05399" y="1982539"/>
            <a:ext cx="400667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Proven CNN architectures on public dataset; open-source toolchain</a:t>
            </a:r>
            <a:endParaRPr lang="en-US" sz="95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7756" y="2426419"/>
            <a:ext cx="4344814" cy="97259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505399" y="2566913"/>
            <a:ext cx="400667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Financially Feasible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505399" y="2876624"/>
            <a:ext cx="400667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Near-zero capital expenditure; leverages existing institutional hardware</a:t>
            </a:r>
            <a:endParaRPr lang="en-US" sz="95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07756" y="3511451"/>
            <a:ext cx="4344814" cy="97259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505399" y="3651945"/>
            <a:ext cx="400667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Academically Suitable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4505399" y="3961656"/>
            <a:ext cx="400667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Integrates ECE, AI, and embedded systems — ideal for final-year scope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4280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Expected Results &amp; Industry Applications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93068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Outputs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408956"/>
            <a:ext cx="1908051" cy="745852"/>
          </a:xfrm>
          <a:prstGeom prst="roundRect">
            <a:avLst>
              <a:gd name="adj" fmla="val 698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4855" y="1537692"/>
            <a:ext cx="165057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Defect Type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4855" y="1840037"/>
            <a:ext cx="165057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of 7 WM811K classes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12665" y="1408956"/>
            <a:ext cx="1908051" cy="745852"/>
          </a:xfrm>
          <a:prstGeom prst="roundRect">
            <a:avLst>
              <a:gd name="adj" fmla="val 698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41402" y="1537692"/>
            <a:ext cx="165057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Confidence Score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41402" y="1840037"/>
            <a:ext cx="165057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Softmax probability (%)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6119" y="2263304"/>
            <a:ext cx="3924598" cy="745852"/>
          </a:xfrm>
          <a:prstGeom prst="roundRect">
            <a:avLst>
              <a:gd name="adj" fmla="val 698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4855" y="2392040"/>
            <a:ext cx="366712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Severity Flag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4855" y="2694384"/>
            <a:ext cx="366712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 / Monitor / Reject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3131195"/>
            <a:ext cx="3924598" cy="443210"/>
          </a:xfrm>
          <a:prstGeom prst="roundRect">
            <a:avLst>
              <a:gd name="adj" fmla="val 11755"/>
            </a:avLst>
          </a:prstGeom>
          <a:solidFill>
            <a:srgbClr val="B6FCB8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3310979"/>
            <a:ext cx="155004" cy="12397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99071" y="3259782"/>
            <a:ext cx="3854872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classification accuracy: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&gt;95%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on held-out test data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728046" y="1093068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Industry Relevance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28046" y="1395413"/>
            <a:ext cx="3924598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Directly applicable to semiconductor manufacturers seeking cost-effective inline inspection:</a:t>
            </a:r>
            <a:endParaRPr lang="en-US" sz="9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818483"/>
            <a:ext cx="310083" cy="31008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96119" y="4264223"/>
            <a:ext cx="26268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Intel · AMD · NVIDIA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96119" y="4523184"/>
            <a:ext cx="262681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High-volume fab defect screening</a:t>
            </a:r>
            <a:endParaRPr lang="en-US" sz="9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58592" y="3818483"/>
            <a:ext cx="310083" cy="31008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258592" y="4264223"/>
            <a:ext cx="26268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Qualcomm · Micron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3258592" y="4523184"/>
            <a:ext cx="262681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Mobile &amp; memory device QA</a:t>
            </a:r>
            <a:endParaRPr lang="en-US" sz="9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21065" y="3818483"/>
            <a:ext cx="310083" cy="31008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021065" y="4264223"/>
            <a:ext cx="26268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Semiconductor Fabs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021065" y="4523184"/>
            <a:ext cx="262681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SME and research lab deployment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5929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 &amp; Future Scope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983828"/>
            <a:ext cx="393806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250305"/>
            <a:ext cx="3938067" cy="743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Low-cost, AI-driven wafer inspection system — </a:t>
            </a:r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under ₹1,000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Converges </a:t>
            </a:r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ECE, Computer Vision, Deep Learning, and Industry 4.0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Deployable on existing hardware with </a:t>
            </a:r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open-source tools only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Addresses a </a:t>
            </a:r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real industrial gap</a:t>
            </a:r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 affordable automated inspection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96119" y="2095426"/>
            <a:ext cx="916484" cy="171673"/>
          </a:xfrm>
          <a:prstGeom prst="roundRect">
            <a:avLst>
              <a:gd name="adj" fmla="val 22111"/>
            </a:avLst>
          </a:prstGeom>
          <a:solidFill>
            <a:srgbClr val="F7EDD4"/>
          </a:solidFill>
          <a:ln/>
        </p:spPr>
      </p:sp>
      <p:sp>
        <p:nvSpPr>
          <p:cNvPr id="6" name="Text 4"/>
          <p:cNvSpPr/>
          <p:nvPr/>
        </p:nvSpPr>
        <p:spPr>
          <a:xfrm>
            <a:off x="563835" y="2129284"/>
            <a:ext cx="1238250" cy="103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CAPSTONE-READY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469082" y="2095426"/>
            <a:ext cx="728737" cy="171673"/>
          </a:xfrm>
          <a:prstGeom prst="roundRect">
            <a:avLst>
              <a:gd name="adj" fmla="val 22111"/>
            </a:avLst>
          </a:prstGeom>
          <a:noFill/>
          <a:ln w="4763">
            <a:solidFill>
              <a:srgbClr val="B88E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36799" y="2129284"/>
            <a:ext cx="1050503" cy="103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IEEE-ALIGNED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714577" y="983828"/>
            <a:ext cx="393806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Future Roadmap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14577" y="1261542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14577" y="1439168"/>
            <a:ext cx="3938067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2" name="Text 10"/>
          <p:cNvSpPr/>
          <p:nvPr/>
        </p:nvSpPr>
        <p:spPr>
          <a:xfrm>
            <a:off x="4714577" y="1524223"/>
            <a:ext cx="393806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Real-Time Camera Inspection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14577" y="1790700"/>
            <a:ext cx="393806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wafer feed with sub-second inference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14577" y="2127721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14577" y="2305348"/>
            <a:ext cx="3938067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6" name="Text 14"/>
          <p:cNvSpPr/>
          <p:nvPr/>
        </p:nvSpPr>
        <p:spPr>
          <a:xfrm>
            <a:off x="4714577" y="2390403"/>
            <a:ext cx="393806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Raspberry Pi Edge Deployment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14577" y="2656880"/>
            <a:ext cx="393806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Portable, low-power inline inspection unit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14577" y="2993901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14577" y="3171527"/>
            <a:ext cx="3938067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0" name="Text 18"/>
          <p:cNvSpPr/>
          <p:nvPr/>
        </p:nvSpPr>
        <p:spPr>
          <a:xfrm>
            <a:off x="4714577" y="3256583"/>
            <a:ext cx="393806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FPGA Acceleration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14577" y="3523059"/>
            <a:ext cx="393806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Hardware-level inference speed-up for production fabs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14577" y="3860081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04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14577" y="4037707"/>
            <a:ext cx="3938067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4" name="Text 22"/>
          <p:cNvSpPr/>
          <p:nvPr/>
        </p:nvSpPr>
        <p:spPr>
          <a:xfrm>
            <a:off x="4714577" y="4122762"/>
            <a:ext cx="393806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Industrial-Scale Pilot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14577" y="4389239"/>
            <a:ext cx="393806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Collaboration with semiconductor manufacturing partners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2026-07-16T15:01:55Z</dcterms:created>
  <dcterms:modified xsi:type="dcterms:W3CDTF">2026-07-16T15:01:55Z</dcterms:modified>
</cp:coreProperties>
</file>